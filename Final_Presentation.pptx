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55119" cy="68214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" y="18288"/>
            <a:ext cx="164592" cy="6821424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3736" y="18288"/>
            <a:ext cx="54864" cy="68214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FEDEX FREIGHT–ALIGNED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78992"/>
            <a:ext cx="67665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4D148C"/>
                </a:solidFill>
                <a:latin typeface="Inter"/>
              </a:defRPr>
            </a:pPr>
            <a:r>
              <a:t>Revenue Quality &amp;</a:t>
            </a:r>
            <a:br/>
            <a:r>
              <a:t>Pricing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70048"/>
            <a:ext cx="6675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D2D30"/>
                </a:solidFill>
                <a:latin typeface="Inter"/>
              </a:defRPr>
            </a:pPr>
            <a:r>
              <a:t>From shipment-level data quality to targeted pricing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685800"/>
            <a:ext cx="3383280" cy="5166360"/>
          </a:xfrm>
          <a:prstGeom prst="roundRect">
            <a:avLst/>
          </a:prstGeom>
          <a:solidFill>
            <a:srgbClr val="F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02412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D148C"/>
                </a:solidFill>
                <a:latin typeface="Inter"/>
              </a:defRPr>
            </a:pPr>
            <a:r>
              <a:t>Decision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572768"/>
            <a:ext cx="438912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4D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67335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4D148C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1563624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2D30"/>
                </a:solidFill>
                <a:latin typeface="Inter"/>
              </a:defRPr>
            </a:pPr>
            <a:r>
              <a:t>Assure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792224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469"/>
                </a:solidFill>
                <a:latin typeface="Inter"/>
              </a:defRPr>
            </a:pPr>
            <a:r>
              <a:t>Data quality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322576"/>
            <a:ext cx="438912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4D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42316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4D148C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231343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2D30"/>
                </a:solidFill>
                <a:latin typeface="Inter"/>
              </a:defRPr>
            </a:pPr>
            <a:r>
              <a:t>Diagnose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254203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469"/>
                </a:solidFill>
                <a:latin typeface="Inter"/>
              </a:defRPr>
            </a:pPr>
            <a:r>
              <a:t>Revenue leakage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3072384"/>
            <a:ext cx="438912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4D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172968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4D148C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306324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2D30"/>
                </a:solidFill>
                <a:latin typeface="Inter"/>
              </a:defRPr>
            </a:pPr>
            <a:r>
              <a:t>Prioritize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3291839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469"/>
                </a:solidFill>
                <a:latin typeface="Inter"/>
              </a:defRPr>
            </a:pPr>
            <a:r>
              <a:t>Customer × lane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822191"/>
            <a:ext cx="438912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4D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922776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4D148C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381304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2D30"/>
                </a:solidFill>
                <a:latin typeface="Inter"/>
              </a:defRPr>
            </a:pPr>
            <a: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404164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469"/>
                </a:solidFill>
                <a:latin typeface="Inter"/>
              </a:defRPr>
            </a:pPr>
            <a:r>
              <a:t>Expected revenue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4572000"/>
            <a:ext cx="438912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4D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672584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4D148C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456285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2D30"/>
                </a:solidFill>
                <a:latin typeface="Inter"/>
              </a:defRPr>
            </a:pPr>
            <a: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479145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469"/>
                </a:solidFill>
                <a:latin typeface="Inter"/>
              </a:defRPr>
            </a:pPr>
            <a:r>
              <a:t>Pilot &amp; measure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6188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6469"/>
                </a:solidFill>
                <a:latin typeface="Inter"/>
              </a:defRPr>
            </a:pPr>
            <a:r>
              <a:t>Prepared for stakeholder 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5212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469"/>
                </a:solidFill>
                <a:latin typeface="Inter"/>
              </a:defRPr>
            </a:pPr>
            <a:r>
              <a:t>Synthetic data • Publicly grounded operating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6848" y="0"/>
            <a:ext cx="834847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194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D148C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694944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6469"/>
                </a:solidFill>
                <a:latin typeface="Inter"/>
              </a:defRPr>
            </a:pPr>
            <a:r>
              <a:t>The case isolates where revenue quality is weak, why it is happening, and how to intervene without defaulting to blanket price increases.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E1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53312"/>
            <a:ext cx="64008" cy="96012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9616"/>
            <a:ext cx="1783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D148C"/>
                </a:solidFill>
                <a:latin typeface="Inter"/>
              </a:defRPr>
            </a:pPr>
            <a:r>
              <a:t>220,000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74519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UNIQUE SHIPMENTS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353312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353312"/>
            <a:ext cx="64008" cy="96012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499616"/>
            <a:ext cx="1783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D148C"/>
                </a:solidFill>
                <a:latin typeface="Inter"/>
              </a:defRPr>
            </a:pPr>
            <a:r>
              <a:t>$75.8M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874519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BILLED REVENUE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1353312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3480" y="1353312"/>
            <a:ext cx="64008" cy="960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1499616"/>
            <a:ext cx="1783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6600"/>
                </a:solidFill>
                <a:latin typeface="Inter"/>
              </a:defRPr>
            </a:pPr>
            <a:r>
              <a:t>$1.37M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1874519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IDENTIFIED 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1353312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78040" y="1353312"/>
            <a:ext cx="64008" cy="960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19" y="1499616"/>
            <a:ext cx="1783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6600"/>
                </a:solidFill>
                <a:latin typeface="Inter"/>
              </a:defRPr>
            </a:pPr>
            <a:r>
              <a:t>98.79%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1874519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PRICING REALIZATION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1353312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72600" y="1353312"/>
            <a:ext cx="64008" cy="96012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5480" y="1499616"/>
            <a:ext cx="1783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D148C"/>
                </a:solidFill>
                <a:latin typeface="Inter"/>
              </a:defRPr>
            </a:pPr>
            <a:r>
              <a:t>0.921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1874519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MODEL R²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2606040"/>
            <a:ext cx="3429000" cy="196596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2606040"/>
            <a:ext cx="73152" cy="19659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2752344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6600"/>
                </a:solidFill>
                <a:latin typeface="Inter"/>
              </a:defRPr>
            </a:pPr>
            <a:r>
              <a:t>WHAT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081528"/>
            <a:ext cx="3081528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Leakage is concentrated in repeatable commercial and billing mechanisms—not uniformly across the portfolio.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0832" y="2606040"/>
            <a:ext cx="3429000" cy="196596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70832" y="2606040"/>
            <a:ext cx="73152" cy="196596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2752344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D148C"/>
                </a:solidFill>
                <a:latin typeface="Inter"/>
              </a:defRPr>
            </a:pPr>
            <a:r>
              <a:t>WHAT TO 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081528"/>
            <a:ext cx="3081528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Prioritize high-volume, weak-realization customer × lane cells; route defects and commercial repricing to different owners.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2" y="2606040"/>
            <a:ext cx="3429000" cy="196596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19872" y="2606040"/>
            <a:ext cx="73152" cy="1965960"/>
          </a:xfrm>
          <a:prstGeom prst="rect">
            <a:avLst/>
          </a:prstGeom>
          <a:solidFill>
            <a:srgbClr val="24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2752344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47E5B"/>
                </a:solidFill>
                <a:latin typeface="Inter"/>
              </a:defRPr>
            </a:pPr>
            <a:r>
              <a:t>HOW TO DE-RISK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081528"/>
            <a:ext cx="3081528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Pilot 20–40 targeted cells for 60–90 days and measure contribution, volume retention, realization and dispute rate.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4892040"/>
            <a:ext cx="10927080" cy="868680"/>
          </a:xfrm>
          <a:prstGeom prst="roundRect">
            <a:avLst/>
          </a:prstGeom>
          <a:solidFill>
            <a:srgbClr val="F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102352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D148C"/>
                </a:solidFill>
                <a:latin typeface="Inter"/>
              </a:defRPr>
            </a:pPr>
            <a:r>
              <a:t>Recommendation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5020056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D2D30"/>
                </a:solidFill>
                <a:latin typeface="Inter"/>
              </a:defRPr>
            </a:pPr>
            <a:r>
              <a:t>Build a governed weekly revenue-quality queue and scale only interventions that improve contribution without unacceptable customer or volume impact.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6537960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69"/>
                </a:solidFill>
                <a:latin typeface="Inter"/>
              </a:defRPr>
            </a:pPr>
            <a:r>
              <a:t>Synthetic portfolio case study • No confidential FedEx Freight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6469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6848" y="0"/>
            <a:ext cx="834847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194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D148C"/>
                </a:solidFill>
                <a:latin typeface="Inter"/>
              </a:defRPr>
            </a:pPr>
            <a:r>
              <a:t>End-to-end analytical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694944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6469"/>
                </a:solidFill>
                <a:latin typeface="Inter"/>
              </a:defRPr>
            </a:pPr>
            <a:r>
              <a:t>A controlled path from raw operational data to a decision that can be measured after implementation.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E1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20116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2011680" cy="109728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810512"/>
            <a:ext cx="3840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48840"/>
            <a:ext cx="1645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D148C"/>
                </a:solidFill>
                <a:latin typeface="Inter"/>
              </a:defRPr>
            </a:pPr>
            <a:r>
              <a:t>RAW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770632"/>
            <a:ext cx="166420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Shipment • customer • contract • lane • class • accessorial • fuel •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816352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6600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1508760"/>
            <a:ext cx="20116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07208" y="1508760"/>
            <a:ext cx="2011680" cy="109728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1810512"/>
            <a:ext cx="3840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148840"/>
            <a:ext cx="1645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D148C"/>
                </a:solidFill>
                <a:latin typeface="Inter"/>
              </a:defRPr>
            </a:pPr>
            <a:r>
              <a:t>DATA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770632"/>
            <a:ext cx="166420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Deduplicate • recover IDs • repair weight • validate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2816352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6600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1496" y="1508760"/>
            <a:ext cx="20116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1496" y="1508760"/>
            <a:ext cx="2011680" cy="109728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1810512"/>
            <a:ext cx="3840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2148840"/>
            <a:ext cx="1645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D148C"/>
                </a:solidFill>
                <a:latin typeface="Inter"/>
              </a:defRPr>
            </a:pPr>
            <a:r>
              <a:t>KPI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770632"/>
            <a:ext cx="166420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Realization • revenue/CWT • gap • contribution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2816352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6600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15784" y="1508760"/>
            <a:ext cx="20116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15784" y="1508760"/>
            <a:ext cx="2011680" cy="109728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0376" y="1810512"/>
            <a:ext cx="3840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2148840"/>
            <a:ext cx="1645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D148C"/>
                </a:solidFill>
                <a:latin typeface="Inter"/>
              </a:defRPr>
            </a:pPr>
            <a:r>
              <a:t>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0376" y="2770632"/>
            <a:ext cx="166420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Root cause • customer × lane • anomaly scoring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2816352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6600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20072" y="1508760"/>
            <a:ext cx="20116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20072" y="1508760"/>
            <a:ext cx="2011680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84664" y="1810512"/>
            <a:ext cx="3840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4664" y="2148840"/>
            <a:ext cx="1645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D148C"/>
                </a:solidFill>
                <a:latin typeface="Inter"/>
              </a:defRPr>
            </a:pPr>
            <a:r>
              <a:t>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4664" y="2770632"/>
            <a:ext cx="166420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Pricing scenario • pilot • post-action measurement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983480"/>
            <a:ext cx="10789920" cy="84124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" y="4983480"/>
            <a:ext cx="73152" cy="841248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" y="5129784"/>
            <a:ext cx="10469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D148C"/>
                </a:solidFill>
                <a:latin typeface="Inter"/>
              </a:defRPr>
            </a:pPr>
            <a:r>
              <a:t>CONTROL PRINCIPLE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" y="5458968"/>
            <a:ext cx="10442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Preserve raw data and repair lineage. A pricing recommendation is not valid unless the source data, contract logic and root-cause evidence reconcile.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6537960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69"/>
                </a:solidFill>
                <a:latin typeface="Inter"/>
              </a:defRPr>
            </a:pPr>
            <a:r>
              <a:t>Synthetic portfolio case study • No confidential FedEx Freight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6469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6848" y="0"/>
            <a:ext cx="834847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194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D148C"/>
                </a:solidFill>
                <a:latin typeface="Inter"/>
              </a:defRPr>
            </a:pPr>
            <a:r>
              <a:t>Data quality is a financial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694944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6469"/>
                </a:solidFill>
                <a:latin typeface="Inter"/>
              </a:defRPr>
            </a:pPr>
            <a:r>
              <a:t>The pipeline deliberately starts with flawed data so the revenue-quality conclusion can be tested for auditability and robustness.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E1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2194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2D30"/>
                </a:solidFill>
                <a:latin typeface="Inter"/>
              </a:defRPr>
            </a:pPr>
            <a:r>
              <a:t>Duplicate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1">
                <a:solidFill>
                  <a:srgbClr val="BE3D37"/>
                </a:solidFill>
                <a:latin typeface="Inter"/>
              </a:defRPr>
            </a:pPr>
            <a:r>
              <a:t>420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1417320"/>
            <a:ext cx="320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4646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417320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1">
                <a:solidFill>
                  <a:srgbClr val="247E5B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453896"/>
            <a:ext cx="5074920" cy="118872"/>
          </a:xfrm>
          <a:prstGeom prst="rect">
            <a:avLst/>
          </a:prstGeom>
          <a:solidFill>
            <a:srgbClr val="EB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453896"/>
            <a:ext cx="3264113" cy="11887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30552"/>
            <a:ext cx="2194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2D30"/>
                </a:solidFill>
                <a:latin typeface="Inter"/>
              </a:defRPr>
            </a:pPr>
            <a:r>
              <a:t>Missing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130552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1">
                <a:solidFill>
                  <a:srgbClr val="BE3D37"/>
                </a:solidFill>
                <a:latin typeface="Inter"/>
              </a:defRPr>
            </a:pPr>
            <a:r>
              <a:t>653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7" y="2130552"/>
            <a:ext cx="320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4646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130552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1">
                <a:solidFill>
                  <a:srgbClr val="247E5B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2167128"/>
            <a:ext cx="5074920" cy="118872"/>
          </a:xfrm>
          <a:prstGeom prst="rect">
            <a:avLst/>
          </a:prstGeom>
          <a:solidFill>
            <a:srgbClr val="EB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7880" y="2167128"/>
            <a:ext cx="5074920" cy="11887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843784"/>
            <a:ext cx="2194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2D30"/>
                </a:solidFill>
                <a:latin typeface="Inter"/>
              </a:defRPr>
            </a:pPr>
            <a:r>
              <a:t>Non-positive weights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2843784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1">
                <a:solidFill>
                  <a:srgbClr val="BE3D37"/>
                </a:solidFill>
                <a:latin typeface="Inter"/>
              </a:defRPr>
            </a:pPr>
            <a:r>
              <a:t>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2843784"/>
            <a:ext cx="320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4646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843784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1">
                <a:solidFill>
                  <a:srgbClr val="247E5B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2880360"/>
            <a:ext cx="5074920" cy="118872"/>
          </a:xfrm>
          <a:prstGeom prst="rect">
            <a:avLst/>
          </a:prstGeom>
          <a:solidFill>
            <a:srgbClr val="EB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97880" y="2880360"/>
            <a:ext cx="699452" cy="11887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57015"/>
            <a:ext cx="2194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2D30"/>
                </a:solidFill>
                <a:latin typeface="Inter"/>
              </a:defRPr>
            </a:pPr>
            <a:r>
              <a:t>Invalid freight 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3557015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1">
                <a:solidFill>
                  <a:srgbClr val="BE3D37"/>
                </a:solidFill>
                <a:latin typeface="Inter"/>
              </a:defRPr>
            </a:pPr>
            <a:r>
              <a:t>352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7" y="3557015"/>
            <a:ext cx="320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4646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557015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1">
                <a:solidFill>
                  <a:srgbClr val="247E5B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97880" y="3593591"/>
            <a:ext cx="5074920" cy="118872"/>
          </a:xfrm>
          <a:prstGeom prst="rect">
            <a:avLst/>
          </a:prstGeom>
          <a:solidFill>
            <a:srgbClr val="EB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7880" y="3593591"/>
            <a:ext cx="2735638" cy="11887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70248"/>
            <a:ext cx="2194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2D30"/>
                </a:solidFill>
                <a:latin typeface="Inter"/>
              </a:defRPr>
            </a:pPr>
            <a:r>
              <a:t>Missing customer 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4270248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1">
                <a:solidFill>
                  <a:srgbClr val="BE3D37"/>
                </a:solidFill>
                <a:latin typeface="Inter"/>
              </a:defRPr>
            </a:pPr>
            <a:r>
              <a:t>281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7" y="4270248"/>
            <a:ext cx="320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4646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270248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1">
                <a:solidFill>
                  <a:srgbClr val="247E5B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4306824"/>
            <a:ext cx="5074920" cy="118872"/>
          </a:xfrm>
          <a:prstGeom prst="rect">
            <a:avLst/>
          </a:prstGeom>
          <a:solidFill>
            <a:srgbClr val="EB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7880" y="4306824"/>
            <a:ext cx="2183847" cy="11887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54680" y="109728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46469"/>
                </a:solidFill>
                <a:latin typeface="Inter"/>
              </a:defRPr>
            </a:pPr>
            <a:r>
              <a:t>BEFORE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6592" y="109728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46469"/>
                </a:solidFill>
                <a:latin typeface="Inter"/>
              </a:defRPr>
            </a:pPr>
            <a:r>
              <a:t>AFTER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230368"/>
            <a:ext cx="6583680" cy="713232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" y="5230368"/>
            <a:ext cx="73152" cy="713232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968" y="5376672"/>
            <a:ext cx="6263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D148C"/>
                </a:solidFill>
                <a:latin typeface="Inter"/>
              </a:defRPr>
            </a:pPr>
            <a:r>
              <a:t>ETL RULES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" y="5705856"/>
            <a:ext cx="623620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Latest-ingestion deduplication • governed customer-name mapping • hierarchical weight imputation • density-based nearest-class repair.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43800" y="5230368"/>
            <a:ext cx="3657600" cy="713232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43800" y="5230368"/>
            <a:ext cx="73152" cy="713232"/>
          </a:xfrm>
          <a:prstGeom prst="rect">
            <a:avLst/>
          </a:prstGeom>
          <a:solidFill>
            <a:srgbClr val="24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44968" y="5376672"/>
            <a:ext cx="3337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47E5B"/>
                </a:solidFill>
                <a:latin typeface="Inter"/>
              </a:defRPr>
            </a:pPr>
            <a:r>
              <a:t>RESULT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4968" y="5705856"/>
            <a:ext cx="331012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Zero remaining defects for the five tested controls; raw source remains unchanged for audit.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6537960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69"/>
                </a:solidFill>
                <a:latin typeface="Inter"/>
              </a:defRPr>
            </a:pPr>
            <a:r>
              <a:t>Synthetic portfolio case study • No confidential FedEx Freight data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6469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6848" y="0"/>
            <a:ext cx="834847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194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D148C"/>
                </a:solidFill>
                <a:latin typeface="Inter"/>
              </a:defRPr>
            </a:pPr>
            <a:r>
              <a:t>Portfolio revenue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694944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6469"/>
                </a:solidFill>
                <a:latin typeface="Inter"/>
              </a:defRPr>
            </a:pPr>
            <a:r>
              <a:t>The portfolio looks healthy in aggregate; the business value comes from isolating concentrated pockets of leakage.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E1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25880"/>
            <a:ext cx="64008" cy="96012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472184"/>
            <a:ext cx="1965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D148C"/>
                </a:solidFill>
                <a:latin typeface="Inter"/>
              </a:defRPr>
            </a:pPr>
            <a:r>
              <a:t>98.79%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847088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PRICING REALIZATION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9232" y="132588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9232" y="1325880"/>
            <a:ext cx="64008" cy="960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1472184"/>
            <a:ext cx="1965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6600"/>
                </a:solidFill>
                <a:latin typeface="Inter"/>
              </a:defRPr>
            </a:pPr>
            <a:r>
              <a:t>$1.37M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1847088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REVENUE 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76672" y="132588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76672" y="1325880"/>
            <a:ext cx="64008" cy="960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1472184"/>
            <a:ext cx="1965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6600"/>
                </a:solidFill>
                <a:latin typeface="Inter"/>
              </a:defRPr>
            </a:pPr>
            <a:r>
              <a:t>36,562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9552" y="1847088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FLAGGED SHIPMENTS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2" y="132588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54112" y="1325880"/>
            <a:ext cx="64008" cy="96012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1472184"/>
            <a:ext cx="1965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D148C"/>
                </a:solidFill>
                <a:latin typeface="Inter"/>
              </a:defRPr>
            </a:pPr>
            <a:r>
              <a:t>$-102.8M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1847088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CONTRIBUTION</a:t>
            </a:r>
          </a:p>
        </p:txBody>
      </p:sp>
      <p:pic>
        <p:nvPicPr>
          <p:cNvPr id="24" name="Picture 23" descr="pricing_realiza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0"/>
            <a:ext cx="6537960" cy="324612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543800" y="2761488"/>
            <a:ext cx="3931920" cy="141732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43800" y="2761488"/>
            <a:ext cx="73152" cy="14173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44968" y="2907792"/>
            <a:ext cx="3611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6600"/>
                </a:solidFill>
                <a:latin typeface="Inter"/>
              </a:defRPr>
            </a:pPr>
            <a:r>
              <a:t>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3236976"/>
            <a:ext cx="3584448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An enterprise average near 99% can still hide recurring underpricing in specific customers, lanes, freight classes or accessorial processes.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4434840"/>
            <a:ext cx="3931920" cy="123444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43800" y="4434840"/>
            <a:ext cx="73152" cy="1234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4968" y="4581144"/>
            <a:ext cx="3611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D148C"/>
                </a:solidFill>
                <a:latin typeface="Inter"/>
              </a:defRPr>
            </a:pPr>
            <a:r>
              <a:t>MANAGEMENT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4968" y="4910327"/>
            <a:ext cx="3584448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Which gaps are material, repeatable and recoverable—and which are legitimate commercial concessions?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537960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69"/>
                </a:solidFill>
                <a:latin typeface="Inter"/>
              </a:defRPr>
            </a:pPr>
            <a:r>
              <a:t>Synthetic portfolio case study • No confidential FedEx Freight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6469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6848" y="0"/>
            <a:ext cx="834847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194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D148C"/>
                </a:solidFill>
                <a:latin typeface="Inter"/>
              </a:defRPr>
            </a:pPr>
            <a:r>
              <a:t>Root-cause view: not all leakage should be treated the same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694944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6469"/>
                </a:solidFill>
                <a:latin typeface="Inter"/>
              </a:defRPr>
            </a:pPr>
            <a:r>
              <a:t>Commercial pricing issues and revenue-assurance defects require different owners, controls and remediation.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E1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ot_cause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8978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12280" y="1353312"/>
            <a:ext cx="4617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6276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D148C"/>
                </a:solidFill>
                <a:latin typeface="Inter"/>
              </a:defRPr>
            </a:pPr>
            <a:r>
              <a:t>Action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9168" y="2057400"/>
            <a:ext cx="4096512" cy="65836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21488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6600"/>
                </a:solidFill>
                <a:latin typeface="Inter"/>
              </a:defRPr>
            </a:pPr>
            <a:r>
              <a:t>Commercial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13055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2D2D30"/>
                </a:solidFill>
                <a:latin typeface="Inter"/>
              </a:defRPr>
            </a:pPr>
            <a:r>
              <a:t>Outdated discount • long-haul / lane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59568" y="2139696"/>
            <a:ext cx="7498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40" b="1">
                <a:solidFill>
                  <a:srgbClr val="4D148C"/>
                </a:solidFill>
                <a:latin typeface="Inter"/>
              </a:defRPr>
            </a:pPr>
            <a:r>
              <a:t>Pricing + Finance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59168" y="2898648"/>
            <a:ext cx="4096512" cy="65836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2990088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6600"/>
                </a:solidFill>
                <a:latin typeface="Inter"/>
              </a:defRPr>
            </a:pPr>
            <a:r>
              <a:t>Revenue assurance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97180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2D2D30"/>
                </a:solidFill>
                <a:latin typeface="Inter"/>
              </a:defRPr>
            </a:pPr>
            <a:r>
              <a:t>Missing accessorial • class mismatch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59568" y="2980944"/>
            <a:ext cx="7498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40" b="1">
                <a:solidFill>
                  <a:srgbClr val="4D148C"/>
                </a:solidFill>
                <a:latin typeface="Inter"/>
              </a:defRPr>
            </a:pPr>
            <a:r>
              <a:t>Billing + Operations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59168" y="3739896"/>
            <a:ext cx="4096512" cy="65836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42048" y="3831335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6600"/>
                </a:solidFill>
                <a:latin typeface="Inter"/>
              </a:defRPr>
            </a:pPr>
            <a:r>
              <a:t>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813048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2D2D30"/>
                </a:solidFill>
                <a:latin typeface="Inter"/>
              </a:defRPr>
            </a:pPr>
            <a:r>
              <a:t>Approved concessions vs. unintended leakage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9568" y="3822191"/>
            <a:ext cx="7498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40" b="1">
                <a:solidFill>
                  <a:srgbClr val="4D148C"/>
                </a:solidFill>
                <a:latin typeface="Inter"/>
              </a:defRPr>
            </a:pPr>
            <a:r>
              <a:t>Pricing leadership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59168" y="4581144"/>
            <a:ext cx="4096512" cy="65836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4672583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6600"/>
                </a:solidFill>
                <a:latin typeface="Inter"/>
              </a:defRPr>
            </a:pPr>
            <a:r>
              <a:t>Prioritization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654296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2D2D30"/>
                </a:solidFill>
                <a:latin typeface="Inter"/>
              </a:defRPr>
            </a:pPr>
            <a:r>
              <a:t>Materiality × recurrence × recoverability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9568" y="4663440"/>
            <a:ext cx="7498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40" b="1">
                <a:solidFill>
                  <a:srgbClr val="4D148C"/>
                </a:solidFill>
                <a:latin typeface="Inter"/>
              </a:defRPr>
            </a:pPr>
            <a:r>
              <a:t>Revenue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37960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69"/>
                </a:solidFill>
                <a:latin typeface="Inter"/>
              </a:defRPr>
            </a:pPr>
            <a:r>
              <a:t>Synthetic portfolio case study • No confidential FedEx Freight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6469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6848" y="0"/>
            <a:ext cx="834847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194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D148C"/>
                </a:solidFill>
                <a:latin typeface="Inter"/>
              </a:defRPr>
            </a:pPr>
            <a:r>
              <a:t>Prioritize at the customer × lane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694944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6469"/>
                </a:solidFill>
                <a:latin typeface="Inter"/>
              </a:defRPr>
            </a:pPr>
            <a:r>
              <a:t>The intervention unit should be granular enough to preserve healthy business while targeting repeatable weak economics.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E1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op_customer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53312"/>
            <a:ext cx="539496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55080" y="1417320"/>
            <a:ext cx="5074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6420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D148C"/>
                </a:solidFill>
                <a:latin typeface="Inter"/>
              </a:defRPr>
            </a:pPr>
            <a:r>
              <a:t>Customer × lane decision matrix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4553712"/>
            <a:ext cx="3566160" cy="18288"/>
          </a:xfrm>
          <a:prstGeom prst="rect">
            <a:avLst/>
          </a:prstGeom>
          <a:solidFill>
            <a:srgbClr val="646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59952" y="2240280"/>
            <a:ext cx="18288" cy="2880360"/>
          </a:xfrm>
          <a:prstGeom prst="rect">
            <a:avLst/>
          </a:prstGeom>
          <a:solidFill>
            <a:srgbClr val="646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4782312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6469"/>
                </a:solidFill>
                <a:latin typeface="Inter"/>
              </a:defRPr>
            </a:pPr>
            <a:r>
              <a:t>LOW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4782312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46469"/>
                </a:solidFill>
                <a:latin typeface="Inter"/>
              </a:defRPr>
            </a:pPr>
            <a:r>
              <a:t>HIGH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33172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247E5B"/>
                </a:solidFill>
                <a:latin typeface="Inter"/>
              </a:defRPr>
            </a:pPr>
            <a:r>
              <a:t>STRONG</a:t>
            </a:r>
            <a:br/>
            <a:r>
              <a:t>ECONOMICS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822191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BE3D37"/>
                </a:solidFill>
                <a:latin typeface="Inter"/>
              </a:defRPr>
            </a:pPr>
            <a:r>
              <a:t>WEAK</a:t>
            </a:r>
            <a:br/>
            <a:r>
              <a:t>ECONOMICS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606040"/>
            <a:ext cx="1188720" cy="56692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6974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47E5B"/>
                </a:solidFill>
                <a:latin typeface="Inter"/>
              </a:defRPr>
            </a:pPr>
            <a:r>
              <a:t>Selective</a:t>
            </a:r>
            <a:br/>
            <a:r>
              <a:t>growth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2606040"/>
            <a:ext cx="1188720" cy="56692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6974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47E5B"/>
                </a:solidFill>
                <a:latin typeface="Inter"/>
              </a:defRPr>
            </a:pPr>
            <a:r>
              <a:t>Protect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822191"/>
            <a:ext cx="1188720" cy="56692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3913631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46469"/>
                </a:solidFill>
                <a:latin typeface="Inter"/>
              </a:defRPr>
            </a:pPr>
            <a:r>
              <a:t>Review /</a:t>
            </a:r>
            <a:br/>
            <a:r>
              <a:t>deprioritize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3822191"/>
            <a:ext cx="1188720" cy="56692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3913631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6600"/>
                </a:solidFill>
                <a:latin typeface="Inter"/>
              </a:defRPr>
            </a:pPr>
            <a:r>
              <a:t>PRICING</a:t>
            </a:r>
            <a:br/>
            <a:r>
              <a:t>PRIORITY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650992"/>
            <a:ext cx="10424160" cy="530352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" y="5650992"/>
            <a:ext cx="73152" cy="5303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5797296"/>
            <a:ext cx="10104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6600"/>
                </a:solidFill>
                <a:latin typeface="Inter"/>
              </a:defRPr>
            </a:pPr>
            <a:r>
              <a:t>PRIORITY 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6126479"/>
            <a:ext cx="10076688" cy="-36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Focus first on high-volume cells with weak realization and sufficient recurrence to support a reliable intervention.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537960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69"/>
                </a:solidFill>
                <a:latin typeface="Inter"/>
              </a:defRPr>
            </a:pPr>
            <a:r>
              <a:t>Synthetic portfolio case study • No confidential FedEx Freight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6469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6848" y="0"/>
            <a:ext cx="834847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194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D148C"/>
                </a:solidFill>
                <a:latin typeface="Inter"/>
              </a:defRPr>
            </a:pPr>
            <a:r>
              <a:t>Expected-revenue model: triage, not autonomous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694944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6469"/>
                </a:solidFill>
                <a:latin typeface="Inter"/>
              </a:defRPr>
            </a:pPr>
            <a:r>
              <a:t>Machine learning ranks suspicious economics; governed pricing logic and analyst review determine the 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E1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71600"/>
            <a:ext cx="64008" cy="96012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17904"/>
            <a:ext cx="1920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D148C"/>
                </a:solidFill>
                <a:latin typeface="Inter"/>
              </a:defRPr>
            </a:pPr>
            <a:r>
              <a:t>0.921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7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HOLDOUT R²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37160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1371600"/>
            <a:ext cx="64008" cy="960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517904"/>
            <a:ext cx="1920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6600"/>
                </a:solidFill>
                <a:latin typeface="Inter"/>
              </a:defRPr>
            </a:pPr>
            <a:r>
              <a:t>$52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892807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HOLDOUT MAE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697480"/>
            <a:ext cx="4572000" cy="132588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697480"/>
            <a:ext cx="73152" cy="132588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843784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D148C"/>
                </a:solidFill>
                <a:latin typeface="Inter"/>
              </a:defRPr>
            </a:pPr>
            <a:r>
              <a:t>TRAINING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172968"/>
            <a:ext cx="4224528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Train on near-normal realization so the model learns healthy shipment economics rather than reproducing known leakage.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51960"/>
            <a:ext cx="4572000" cy="114300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251960"/>
            <a:ext cx="73152" cy="1143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398264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6600"/>
                </a:solidFill>
                <a:latin typeface="Inter"/>
              </a:defRPr>
            </a:pPr>
            <a:r>
              <a:t>FEATURE 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727448"/>
            <a:ext cx="422452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Weight • distance • freight class • pallets • density • fuel • customer • origin • destination • service level.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1353312"/>
            <a:ext cx="5486400" cy="4526280"/>
          </a:xfrm>
          <a:prstGeom prst="roundRect">
            <a:avLst/>
          </a:prstGeom>
          <a:solidFill>
            <a:srgbClr val="F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67335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D148C"/>
                </a:solidFill>
                <a:latin typeface="Inter"/>
              </a:defRPr>
            </a:pPr>
            <a:r>
              <a:t>Production decision funnel</a:t>
            </a:r>
          </a:p>
        </p:txBody>
      </p:sp>
      <p:sp>
        <p:nvSpPr>
          <p:cNvPr id="26" name="Oval 25"/>
          <p:cNvSpPr/>
          <p:nvPr/>
        </p:nvSpPr>
        <p:spPr>
          <a:xfrm>
            <a:off x="6199632" y="2212848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4D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2" y="2295144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4D148C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2203704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D2D30"/>
                </a:solidFill>
                <a:latin typeface="Inter"/>
              </a:defRPr>
            </a:pPr>
            <a:r>
              <a:t>Model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2203704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6469"/>
                </a:solidFill>
                <a:latin typeface="Inter"/>
              </a:defRPr>
            </a:pPr>
            <a:r>
              <a:t>Identify potential under-recovery</a:t>
            </a:r>
          </a:p>
        </p:txBody>
      </p:sp>
      <p:sp>
        <p:nvSpPr>
          <p:cNvPr id="30" name="Oval 29"/>
          <p:cNvSpPr/>
          <p:nvPr/>
        </p:nvSpPr>
        <p:spPr>
          <a:xfrm>
            <a:off x="6199632" y="2871215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4D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2953511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4D148C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2862072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D2D30"/>
                </a:solidFill>
                <a:latin typeface="Inter"/>
              </a:defRPr>
            </a:pPr>
            <a:r>
              <a:t>Evidence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86207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6469"/>
                </a:solidFill>
                <a:latin typeface="Inter"/>
              </a:defRPr>
            </a:pPr>
            <a:r>
              <a:t>Contract / rate / billing validation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199632" y="3529584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4D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3611879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4D148C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3520440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D2D30"/>
                </a:solidFill>
                <a:latin typeface="Inter"/>
              </a:defRPr>
            </a:pPr>
            <a:r>
              <a:t>Root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7" y="3520440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6469"/>
                </a:solidFill>
                <a:latin typeface="Inter"/>
              </a:defRPr>
            </a:pPr>
            <a:r>
              <a:t>Commercial vs. operational defect</a:t>
            </a:r>
          </a:p>
        </p:txBody>
      </p:sp>
      <p:sp>
        <p:nvSpPr>
          <p:cNvPr id="38" name="Oval 37"/>
          <p:cNvSpPr/>
          <p:nvPr/>
        </p:nvSpPr>
        <p:spPr>
          <a:xfrm>
            <a:off x="6199632" y="4187952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4D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9632" y="4270248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4D148C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417880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D2D30"/>
                </a:solidFill>
                <a:latin typeface="Inter"/>
              </a:defRPr>
            </a:pPr>
            <a:r>
              <a:t>Approval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7" y="4178808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6469"/>
                </a:solidFill>
                <a:latin typeface="Inter"/>
              </a:defRPr>
            </a:pPr>
            <a:r>
              <a:t>Pricing / Finance / account constraints</a:t>
            </a:r>
          </a:p>
        </p:txBody>
      </p:sp>
      <p:sp>
        <p:nvSpPr>
          <p:cNvPr id="42" name="Oval 41"/>
          <p:cNvSpPr/>
          <p:nvPr/>
        </p:nvSpPr>
        <p:spPr>
          <a:xfrm>
            <a:off x="6199632" y="484632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4D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4928616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4D148C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4848" y="4837176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D2D30"/>
                </a:solidFill>
                <a:latin typeface="Inter"/>
              </a:defRPr>
            </a:pPr>
            <a:r>
              <a:t>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7" y="4837176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6469"/>
                </a:solidFill>
                <a:latin typeface="Inter"/>
              </a:defRPr>
            </a:pPr>
            <a:r>
              <a:t>Pilot, monitor, scale or stop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537960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69"/>
                </a:solidFill>
                <a:latin typeface="Inter"/>
              </a:defRPr>
            </a:pPr>
            <a:r>
              <a:t>Synthetic portfolio case study • No confidential FedEx Freight 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6469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6848" y="0"/>
            <a:ext cx="834847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194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D148C"/>
                </a:solidFill>
                <a:latin typeface="Inter"/>
              </a:defRPr>
            </a:pPr>
            <a:r>
              <a:t>Pricing scenarios: optimize contribution, not headline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694944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6469"/>
                </a:solidFill>
                <a:latin typeface="Inter"/>
              </a:defRPr>
            </a:pPr>
            <a:r>
              <a:t>Targeted price actions are evaluated against expected volume response; elasticity remains an assumption until estimated from actual behavior.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E1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icing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5943600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76288" y="148132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76288" y="1481328"/>
            <a:ext cx="64008" cy="960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1627632"/>
            <a:ext cx="1783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6600"/>
                </a:solidFill>
                <a:latin typeface="Inter"/>
              </a:defRPr>
            </a:pPr>
            <a:r>
              <a:t>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002536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MODELED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48132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98280" y="1481328"/>
            <a:ext cx="64008" cy="96012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59" y="1627632"/>
            <a:ext cx="1783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D148C"/>
                </a:solidFill>
                <a:latin typeface="Inter"/>
              </a:defRPr>
            </a:pPr>
            <a:r>
              <a:t>-4.25%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002536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AVG. VOLUME RESPONSE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2788920"/>
            <a:ext cx="4279392" cy="96012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76288" y="2788920"/>
            <a:ext cx="73152" cy="960120"/>
          </a:xfrm>
          <a:prstGeom prst="rect">
            <a:avLst/>
          </a:prstGeom>
          <a:solidFill>
            <a:srgbClr val="24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77455" y="2935224"/>
            <a:ext cx="3959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47E5B"/>
                </a:solidFill>
                <a:latin typeface="Inter"/>
              </a:defRPr>
            </a:pPr>
            <a:r>
              <a:t>MODELED UPSIDE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5" y="3264408"/>
            <a:ext cx="39319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Incremental contribution across selected customer × lane cells: $7,500.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4005072"/>
            <a:ext cx="4279392" cy="1417320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76288" y="4005072"/>
            <a:ext cx="73152" cy="141732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5" y="4151376"/>
            <a:ext cx="3959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D148C"/>
                </a:solidFill>
                <a:latin typeface="Inter"/>
              </a:defRPr>
            </a:pPr>
            <a:r>
              <a:t>DECISION GUARDRAIL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5" y="4480560"/>
            <a:ext cx="393192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Before any production recommendation: estimate elasticity empirically, review contracts, exclude strategically sensitive accounts and monitor disputes.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37960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69"/>
                </a:solidFill>
                <a:latin typeface="Inter"/>
              </a:defRPr>
            </a:pPr>
            <a:r>
              <a:t>Synthetic portfolio case study • No confidential FedEx Freight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6469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6848" y="0"/>
            <a:ext cx="834847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194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D148C"/>
                </a:solidFill>
                <a:latin typeface="Inter"/>
              </a:defRPr>
            </a:pPr>
            <a:r>
              <a:t>90-day pilot and measurement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694944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6469"/>
                </a:solidFill>
                <a:latin typeface="Inter"/>
              </a:defRPr>
            </a:pPr>
            <a:r>
              <a:t>The recommendation becomes credible only when the intervention is measured against a counterfactual and customer outcomes.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E1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08760"/>
            <a:ext cx="2578608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08760"/>
            <a:ext cx="2578608" cy="91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600"/>
                </a:solidFill>
                <a:latin typeface="Inter"/>
              </a:defRPr>
            </a:pPr>
            <a:r>
              <a:t>0–2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76272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D148C"/>
                </a:solidFill>
                <a:latin typeface="Inter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212848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Reconcile contracts, billing logic and root-cause evidence. Select 20–40 target cells + matched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1508760"/>
            <a:ext cx="2578608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9856" y="1508760"/>
            <a:ext cx="2578608" cy="91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81051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600"/>
                </a:solidFill>
                <a:latin typeface="Inter"/>
              </a:defRPr>
            </a:pPr>
            <a:r>
              <a:t>3–6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176272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D148C"/>
                </a:solidFill>
                <a:latin typeface="Inter"/>
              </a:defRPr>
            </a:pPr>
            <a:r>
              <a:t>Intervene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697480"/>
            <a:ext cx="2212848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Implement approved pricing / billing controls. Freeze measurement definitions and exception handling.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508760"/>
            <a:ext cx="2578608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508760"/>
            <a:ext cx="2578608" cy="91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81051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600"/>
                </a:solidFill>
                <a:latin typeface="Inter"/>
              </a:defRPr>
            </a:pPr>
            <a:r>
              <a:t>7–12 WEEKS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176272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D148C"/>
                </a:solidFill>
                <a:latin typeface="Inter"/>
              </a:defRPr>
            </a:pPr>
            <a:r>
              <a:t>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697480"/>
            <a:ext cx="2212848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Track realization, revenue/CWT, contribution, volume retention, dispute rate and exceptions.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25711" y="1508760"/>
            <a:ext cx="2578608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25711" y="1508760"/>
            <a:ext cx="2578608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3" y="181051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600"/>
                </a:solidFill>
                <a:latin typeface="Inter"/>
              </a:defRPr>
            </a:pPr>
            <a:r>
              <a:t>DAY 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3" y="2176272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D148C"/>
                </a:solidFill>
                <a:latin typeface="Inter"/>
              </a:defRPr>
            </a:pPr>
            <a:r>
              <a:t>Decide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3" y="2697480"/>
            <a:ext cx="2212848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Scale, modify or stop by issue type and customer segment based on realized contribution.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754880"/>
            <a:ext cx="10789920" cy="1051560"/>
          </a:xfrm>
          <a:prstGeom prst="roundRect">
            <a:avLst/>
          </a:prstGeom>
          <a:solidFill>
            <a:srgbClr val="F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00176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D148C"/>
                </a:solidFill>
                <a:latin typeface="Inter"/>
              </a:defRPr>
            </a:pPr>
            <a:r>
              <a:t>Pilot scorecard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89204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47E5B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892040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Pricing realization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89204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47E5B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892040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Revenue / CWT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89204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47E5B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892040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Contribution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5276088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47E5B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5276088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Shipment volume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5276088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47E5B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5276088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Customer retention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276088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47E5B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276088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2D30"/>
                </a:solidFill>
                <a:latin typeface="Inter"/>
              </a:defRPr>
            </a:pPr>
            <a:r>
              <a:t>Dispute / exception 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537960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69"/>
                </a:solidFill>
                <a:latin typeface="Inter"/>
              </a:defRPr>
            </a:pPr>
            <a:r>
              <a:t>Synthetic portfolio case study • No confidential FedEx Freight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6469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6848" y="0"/>
            <a:ext cx="834847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194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D148C"/>
                </a:solidFill>
                <a:latin typeface="Inter"/>
              </a:defRPr>
            </a:pPr>
            <a:r>
              <a:t>Stakeholder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694944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6469"/>
                </a:solidFill>
                <a:latin typeface="Inter"/>
              </a:defRPr>
            </a:pPr>
            <a:r>
              <a:t>Operationalize a revenue-quality control loop that separates detection, diagnosis, action and measurement.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E1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53312"/>
            <a:ext cx="10744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64008" cy="658368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27048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490472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D148C"/>
                </a:solidFill>
                <a:latin typeface="Inter"/>
              </a:defRPr>
            </a:pPr>
            <a:r>
              <a:t>GOVERN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1481328"/>
            <a:ext cx="8321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Create a weekly customer × lane revenue-quality queue with contract/rating lineage.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212848"/>
            <a:ext cx="10744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212848"/>
            <a:ext cx="64008" cy="658368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386584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350008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D148C"/>
                </a:solidFill>
                <a:latin typeface="Inter"/>
              </a:defRPr>
            </a:pPr>
            <a: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340864"/>
            <a:ext cx="8321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Send billing/accessorial defects to Revenue Assurance; send commercial gaps to Pricing + Finance.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72384"/>
            <a:ext cx="10744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072384"/>
            <a:ext cx="64008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2461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209544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D148C"/>
                </a:solidFill>
                <a:latin typeface="Inter"/>
              </a:defRPr>
            </a:pPr>
            <a:r>
              <a:t>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3200400"/>
            <a:ext cx="8321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Use targeted cohorts rather than portfolio-wide increases; protect healthy lanes and accounts.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31920"/>
            <a:ext cx="10744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931920"/>
            <a:ext cx="64008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105656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06908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D148C"/>
                </a:solidFill>
                <a:latin typeface="Inter"/>
              </a:defRPr>
            </a:pPr>
            <a:r>
              <a:t>MEASURE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0048" y="4059935"/>
            <a:ext cx="8321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Scale only when incremental contribution survives volume, retention and dispute-rate checks.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791456"/>
            <a:ext cx="10744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791456"/>
            <a:ext cx="64008" cy="658368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965192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928616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D148C"/>
                </a:solidFill>
                <a:latin typeface="Inter"/>
              </a:defRPr>
            </a:pPr>
            <a:r>
              <a:t>REFRESH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0048" y="4919472"/>
            <a:ext cx="8321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Re-estimate elasticity and thresholds quarterly; monitor model drift and exception patterns.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806440"/>
            <a:ext cx="10744200" cy="411480"/>
          </a:xfrm>
          <a:prstGeom prst="round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907024"/>
            <a:ext cx="10241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Decision: pilot targeted revenue-quality interventions; do not use the model as an autonomous pricing engine.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537960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69"/>
                </a:solidFill>
                <a:latin typeface="Inter"/>
              </a:defRPr>
            </a:pPr>
            <a:r>
              <a:t>Synthetic portfolio case study • No confidential FedEx Freight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6469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56848" y="0"/>
            <a:ext cx="834847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194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D148C"/>
                </a:solidFill>
                <a:latin typeface="Inter"/>
              </a:defRPr>
            </a:pPr>
            <a:r>
              <a:t>Appendix | scope, assumptions and disclosure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694944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6469"/>
                </a:solidFill>
                <a:latin typeface="Inter"/>
              </a:defRPr>
            </a:pPr>
            <a:r>
              <a:t>Designed to be credible in a stakeholder conversation without implying access to proprietary carrier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183112" cy="13716"/>
          </a:xfrm>
          <a:prstGeom prst="rect">
            <a:avLst/>
          </a:prstGeom>
          <a:solidFill>
            <a:srgbClr val="E1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89888"/>
            <a:ext cx="5166360" cy="1170432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89888"/>
            <a:ext cx="73152" cy="1170432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3619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D148C"/>
                </a:solidFill>
                <a:latin typeface="Inter"/>
              </a:defRPr>
            </a:pPr>
            <a:r>
              <a:t>DATA DISCLOSURE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65376"/>
            <a:ext cx="481888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All shipment, contract, price, cost, elasticity and customer-behavior values are synthetic. No confidential FedEx Freight data is 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389888"/>
            <a:ext cx="5166360" cy="1170432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1389888"/>
            <a:ext cx="73152" cy="117043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53619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6600"/>
                </a:solidFill>
                <a:latin typeface="Inter"/>
              </a:defRPr>
            </a:pPr>
            <a:r>
              <a:t>CUSTOMER NAMES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865376"/>
            <a:ext cx="481888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Dillard’s appears only as a historical public reference; its economics here are synthetic. Other customer names are fictional.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52928"/>
            <a:ext cx="5166360" cy="138988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852928"/>
            <a:ext cx="73152" cy="1389888"/>
          </a:xfrm>
          <a:prstGeom prst="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99923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D148C"/>
                </a:solidFill>
                <a:latin typeface="Inter"/>
              </a:defRPr>
            </a:pPr>
            <a:r>
              <a:t>PUBLIC GROUNDING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328416"/>
            <a:ext cx="48188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The operating concepts align to public FedEx materials on freight rating, class/weight/accessorial inputs and pricing accuracy. This deck is not an official FedEx presentation.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2852928"/>
            <a:ext cx="5166360" cy="138988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2852928"/>
            <a:ext cx="73152" cy="13898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299923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6600"/>
                </a:solidFill>
                <a:latin typeface="Inter"/>
              </a:defRPr>
            </a:pPr>
            <a:r>
              <a:t>MODEL LIMITATION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3328416"/>
            <a:ext cx="48188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The expected-revenue model prioritizes review. Production pricing requires governed contracts, empirically estimated elasticity, approval controls and customer context.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63440"/>
            <a:ext cx="10625328" cy="932688"/>
          </a:xfrm>
          <a:prstGeom prst="round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89204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D148C"/>
                </a:solidFill>
                <a:latin typeface="Inter"/>
              </a:defRPr>
            </a:pPr>
            <a:r>
              <a:t>Presentation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828032"/>
            <a:ext cx="8412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D2D30"/>
                </a:solidFill>
                <a:latin typeface="Inter"/>
              </a:defRPr>
            </a:pPr>
            <a:r>
              <a:t>FedEx-inspired purple/orange visual language used for this portfolio case study; official logo assets are intentionally not reproduced.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37960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69"/>
                </a:solidFill>
                <a:latin typeface="Inter"/>
              </a:defRPr>
            </a:pPr>
            <a:r>
              <a:t>Synthetic portfolio case study • No confidential FedEx Freight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46469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